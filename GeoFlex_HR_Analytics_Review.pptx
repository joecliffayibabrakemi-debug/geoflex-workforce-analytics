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Nigeria</c:v>
                  </c:pt>
                  <c:pt idx="1">
                    <c:v>Kenya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1595</c:v>
                </c:pt>
                <c:pt idx="1">
                  <c:v>905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Full-Time</c:v>
                  </c:pt>
                  <c:pt idx="1">
                    <c:v>Contract</c:v>
                  </c:pt>
                  <c:pt idx="2">
                    <c:v>Intern</c:v>
                  </c:pt>
                  <c:pt idx="3">
                    <c:v>Part-Time</c:v>
                  </c:pt>
                  <c:pt idx="4">
                    <c:v>Grad. Trainee</c:v>
                  </c:pt>
                  <c:pt idx="5">
                    <c:v>Temporary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395</c:v>
                </c:pt>
                <c:pt idx="1">
                  <c:v>398</c:v>
                </c:pt>
                <c:pt idx="2">
                  <c:v>399</c:v>
                </c:pt>
                <c:pt idx="3">
                  <c:v>423</c:v>
                </c:pt>
                <c:pt idx="4">
                  <c:v>424</c:v>
                </c:pt>
                <c:pt idx="5">
                  <c:v>461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Applied</c:v>
                  </c:pt>
                  <c:pt idx="1">
                    <c:v>Interviewed</c:v>
                  </c:pt>
                  <c:pt idx="2">
                    <c:v>Offered</c:v>
                  </c:pt>
                  <c:pt idx="3">
                    <c:v>Hired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880</c:v>
                </c:pt>
                <c:pt idx="1">
                  <c:v>822</c:v>
                </c:pt>
                <c:pt idx="2">
                  <c:v>821</c:v>
                </c:pt>
                <c:pt idx="3">
                  <c:v>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 Rate %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Indeed (32)</c:v>
                  </c:pt>
                  <c:pt idx="1">
                    <c:v>Job Portal (975)</c:v>
                  </c:pt>
                  <c:pt idx="2">
                    <c:v>LinkedIn (995)</c:v>
                  </c:pt>
                  <c:pt idx="3">
                    <c:v>Referral (956)</c:v>
                  </c:pt>
                  <c:pt idx="4">
                    <c:v>Company Website (1,019)</c:v>
                  </c:pt>
                  <c:pt idx="5">
                    <c:v>Campus Recruitment (976)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</c:v>
                </c:pt>
                <c:pt idx="1">
                  <c:v>14.05</c:v>
                </c:pt>
                <c:pt idx="2">
                  <c:v>15.58</c:v>
                </c:pt>
                <c:pt idx="3">
                  <c:v>16.42</c:v>
                </c:pt>
                <c:pt idx="4">
                  <c:v>17.27</c:v>
                </c:pt>
                <c:pt idx="5">
                  <c:v>17.83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Executive Mgmt</c:v>
                  </c:pt>
                  <c:pt idx="1">
                    <c:v>Quality Assurance</c:v>
                  </c:pt>
                  <c:pt idx="2">
                    <c:v>Sales</c:v>
                  </c:pt>
                  <c:pt idx="3">
                    <c:v>Procurement</c:v>
                  </c:pt>
                  <c:pt idx="4">
                    <c:v>Administration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57.1</c:v>
                </c:pt>
                <c:pt idx="1">
                  <c:v>58.3</c:v>
                </c:pt>
                <c:pt idx="2">
                  <c:v>59.1</c:v>
                </c:pt>
                <c:pt idx="3">
                  <c:v>60.2</c:v>
                </c:pt>
                <c:pt idx="4">
                  <c:v>60.2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Customer Service</c:v>
                  </c:pt>
                  <c:pt idx="1">
                    <c:v>Administration</c:v>
                  </c:pt>
                  <c:pt idx="2">
                    <c:v>Procurement</c:v>
                  </c:pt>
                  <c:pt idx="3">
                    <c:v>Compliance</c:v>
                  </c:pt>
                  <c:pt idx="4">
                    <c:v>Sales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18.49</c:v>
                </c:pt>
                <c:pt idx="1">
                  <c:v>17.36</c:v>
                </c:pt>
                <c:pt idx="2">
                  <c:v>16.78</c:v>
                </c:pt>
                <c:pt idx="3">
                  <c:v>16.67</c:v>
                </c:pt>
                <c:pt idx="4">
                  <c:v>16.48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Resignation (43)</c:v>
                  </c:pt>
                  <c:pt idx="1">
                    <c:v>Retirement (46)</c:v>
                  </c:pt>
                  <c:pt idx="2">
                    <c:v>Contract End (47)</c:v>
                  </c:pt>
                  <c:pt idx="3">
                    <c:v>Termination (53)</c:v>
                  </c:pt>
                  <c:pt idx="4">
                    <c:v>Relocation (59)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46</c:v>
                </c:pt>
                <c:pt idx="2">
                  <c:v>47</c:v>
                </c:pt>
                <c:pt idx="3">
                  <c:v>53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F7D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Makurdi</c:v>
                  </c:pt>
                  <c:pt idx="1">
                    <c:v>Machakos</c:v>
                  </c:pt>
                  <c:pt idx="2">
                    <c:v>Abuja Regional</c:v>
                  </c:pt>
                  <c:pt idx="3">
                    <c:v>Abeokuta</c:v>
                  </c:pt>
                  <c:pt idx="4">
                    <c:v>Sokoto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75.71</c:v>
                </c:pt>
                <c:pt idx="1">
                  <c:v>75.79</c:v>
                </c:pt>
                <c:pt idx="2">
                  <c:v>76.05</c:v>
                </c:pt>
                <c:pt idx="3">
                  <c:v>76.07</c:v>
                </c:pt>
                <c:pt idx="4">
                  <c:v>76.26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Absent Rate %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Meru</c:v>
                  </c:pt>
                  <c:pt idx="1">
                    <c:v>Eldoret</c:v>
                  </c:pt>
                  <c:pt idx="2">
                    <c:v>Makurdi</c:v>
                  </c:pt>
                  <c:pt idx="3">
                    <c:v>Asaba</c:v>
                  </c:pt>
                  <c:pt idx="4">
                    <c:v>Benin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4.03</c:v>
                </c:pt>
                <c:pt idx="1">
                  <c:v>4.06</c:v>
                </c:pt>
                <c:pt idx="2">
                  <c:v>4.09</c:v>
                </c:pt>
                <c:pt idx="3">
                  <c:v>4.1</c:v>
                </c:pt>
                <c:pt idx="4">
                  <c:v>4.14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GEOFLEX WORKFORCE SOLUTIONS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Review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Findings &amp; Strategic Recommendations for Senior Management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 •  Kenya   |   Prepared by Data Analytics Team   |   2019–2025 Workforce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Workforce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Geoflex grew headcount 16.8% year-over-year across Nigeria and Kenya. Growth has outpaced governance: attrition sits above target and workforce records still show data-quality gaps flagged in the source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42316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30632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41071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▲16.8% YoY (LY 2,140)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9664" y="22402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242316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25696" y="30632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696" y="341071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 employees exited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90688" y="22402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242316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46720" y="30632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341071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14.60% promotion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443484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4672" y="50749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542239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6,201 enrolled trainees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9664" y="4251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25696" y="443484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₦711.4K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25696" y="50749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25696" y="542239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₦1.78bn total payroll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90688" y="4251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4434840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046720" y="50749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542239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3.98% absence rate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People Sit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Country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5303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886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accounts for 63.8% of total workforce.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Employment Type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187452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34340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5262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departments hold 40% of total headcount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69280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669280" y="5120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03136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803136" y="5120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936992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936992" y="5120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70848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070848" y="5120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204704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0204704" y="5120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Funnel &amp; Source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Funnel (5,000 applicants)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Rate: 16.3%  |  Interviewed Rate: 16.4%  |  Offered Rate: 16.4%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Rate by Recruitment Source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182880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F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as a business call: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and NIL post the highest hire rates but on tiny volume. Among sources that can actually scale, Campus Recruitment (17.8%) and the Company Website (17.3%) convert best — Indeed (12.5%) and Job Portal (14.1%) lag while likely carrying real cost-per-hire.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Investment Is Not Converting to High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Rate — Lowest 5 Departments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Outcomes (17,499 rated reviews)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8745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0936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18745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3816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966960" y="18745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96696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2461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1.25% of all reviews land in the 'High' band (100–150), against an average score of 75.08/150 companywide.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F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as a business call: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Management has both the lowest training-completion rate (57.1%) and sits among the higher average performance scores — training is not the lever moving senior performance. The real gap is that companywide, high-rated reviews are rare (1.25%), suggesting review calibration and mid-management coaching need attention, not just course completion.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Employees Are Leaving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— Highest 5 Departments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Reasons for Exit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828800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EF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34340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as a business call: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staff churn hardest (16.08% attrition) versus Full-Time (12.15%) — a 4-point gap. Most exits happen within the first 1–3 years of tenure (81 of 362), pointing to an early-tenure retention problem, not a long-tenure one. Relocation and termination together drive nearly a third of exits, concentrated in Customer Service and Administration.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and Weakest-Performing Branches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Branches by Avg. Performance Score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Absence Rate — 5 Branches to Watch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82880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F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as a business call: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40 branches, performance scores cluster tightly (73–76 out of 150) and absence rates cluster between 3.7%–4.1% — no single branch is an outlier in either direction. Sokoto, Abeokuta and the Abuja Regional Office lead on performance; Benin, Asaba and Makurdi warrant a closer look on attendance management.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Management Asked, In One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013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need immediate attention?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Service, Administration, Procurement and Compliance — the four highest-attrition departments (16.7–18.5%).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1B4D"/>
          </a:solidFill>
          <a:ln/>
        </p:spPr>
      </p:sp>
      <p:sp>
        <p:nvSpPr>
          <p:cNvPr id="11" name="Shape 9"/>
          <p:cNvSpPr/>
          <p:nvPr/>
        </p:nvSpPr>
        <p:spPr>
          <a:xfrm>
            <a:off x="6519672" y="18288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8013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branches are performing best?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4231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Sokoto, Abeokuta and the Abuja Regional Office lead on average performance score; Ibadan and Onitsha post the lowest absence rates.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1B4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1148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0873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recruitment sources deserve more investment?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47091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Recruitment (17.8% hire rate) and the Company Website (17.3%) — both scalable and outperforming paid job boards.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1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1148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0873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driving attrition?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9672" y="47091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exits (1–3 years), a 4-point attrition gap between Contract and Full-Time staff, and relocation/termination as the leading exit reasons.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Actions to Improve Performance &amp; Retention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58191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high-attrition departments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58191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structured stay-interviews and manager coaching in Customer Service, Administration, Procurement and Compliance.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11064240" cy="0"/>
          </a:xfrm>
          <a:prstGeom prst="line">
            <a:avLst/>
          </a:prstGeom>
          <a:noFill/>
          <a:ln w="9525">
            <a:solidFill>
              <a:srgbClr val="E2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45059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early-tenure drop-off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45059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0–18 month onboarding and mentorship track; most exits happen in the first 1–3 years.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11064240" cy="0"/>
          </a:xfrm>
          <a:prstGeom prst="line">
            <a:avLst/>
          </a:prstGeom>
          <a:noFill/>
          <a:ln w="9525">
            <a:solidFill>
              <a:srgbClr val="E2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31927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Contract vs Full-Time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3192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clear conversion paths for strong contract performers to reduce the 4-point attrition gap.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1064240" cy="0"/>
          </a:xfrm>
          <a:prstGeom prst="line">
            <a:avLst/>
          </a:prstGeom>
          <a:noFill/>
          <a:ln w="9525">
            <a:solidFill>
              <a:srgbClr val="E2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2062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418795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recruitment spend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418795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toward Campus Recruitment and the Company Website; scale down low-converting paid boards.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11064240" cy="0"/>
          </a:xfrm>
          <a:prstGeom prst="line">
            <a:avLst/>
          </a:prstGeom>
          <a:noFill/>
          <a:ln w="9525">
            <a:solidFill>
              <a:srgbClr val="E2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074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505663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performance reviews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505663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1.25% of reviews rate 'High' company-wide — audit rating consistency across managers and branches.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ACT ON THIS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Caveat Worth Flagging to the Room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own numbers still carry the data-governance gaps this project set out to fix — e.g. "Active Employees" reads 400 against a 2,500 headcount, and source tables carried hundreds of duplicate and missing-value records before cleaning.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directional findings (which departments, which branches, which sources) as reliable; treat exact figures as provisional until Phase 1 cleaning and Phase 2 relational validation are fully signed off.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79392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Phase 1 cleaning and re-run this dashboard against the validated dataset.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73752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73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846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Active Employees / Employment Status logic with HR before reporting it externally.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68112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5440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retention actions in the four highest-attrition departments for one quarter, then measure.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2026-08-30T16:37:28Z</dcterms:created>
  <dcterms:modified xsi:type="dcterms:W3CDTF">2026-08-30T16:37:28Z</dcterms:modified>
</cp:coreProperties>
</file>